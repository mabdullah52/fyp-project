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2" r:id="rId3"/>
    <p:sldId id="257" r:id="rId4"/>
    <p:sldId id="258" r:id="rId5"/>
    <p:sldId id="259" r:id="rId6"/>
    <p:sldId id="260" r:id="rId7"/>
    <p:sldId id="261" r:id="rId8"/>
    <p:sldId id="273" r:id="rId9"/>
    <p:sldId id="274" r:id="rId10"/>
    <p:sldId id="275" r:id="rId11"/>
    <p:sldId id="276" r:id="rId12"/>
    <p:sldId id="262" r:id="rId13"/>
    <p:sldId id="263" r:id="rId14"/>
    <p:sldId id="264" r:id="rId15"/>
    <p:sldId id="267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6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18C5A-B26D-451D-BBAC-91690EA95A9A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A406F-9A25-4478-8552-564AEA2881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215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18C5A-B26D-451D-BBAC-91690EA95A9A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A406F-9A25-4478-8552-564AEA2881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2841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18C5A-B26D-451D-BBAC-91690EA95A9A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A406F-9A25-4478-8552-564AEA2881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85156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18C5A-B26D-451D-BBAC-91690EA95A9A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A406F-9A25-4478-8552-564AEA2881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55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18C5A-B26D-451D-BBAC-91690EA95A9A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A406F-9A25-4478-8552-564AEA2881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0165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18C5A-B26D-451D-BBAC-91690EA95A9A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A406F-9A25-4478-8552-564AEA2881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7455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18C5A-B26D-451D-BBAC-91690EA95A9A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A406F-9A25-4478-8552-564AEA2881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4782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18C5A-B26D-451D-BBAC-91690EA95A9A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A406F-9A25-4478-8552-564AEA2881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0605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18C5A-B26D-451D-BBAC-91690EA95A9A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A406F-9A25-4478-8552-564AEA2881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49032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18C5A-B26D-451D-BBAC-91690EA95A9A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A406F-9A25-4478-8552-564AEA2881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9909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18C5A-B26D-451D-BBAC-91690EA95A9A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A406F-9A25-4478-8552-564AEA2881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37122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918C5A-B26D-451D-BBAC-91690EA95A9A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CA406F-9A25-4478-8552-564AEA2881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8254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5000" b="1" dirty="0"/>
              <a:t>Robust Lung Cancer Prediction: Handling Incomplete and Noisy Clinical Data Using Deep Learning</a:t>
            </a:r>
            <a:endParaRPr lang="en-US" sz="5000" b="1" dirty="0">
              <a:solidFill>
                <a:srgbClr val="0000FF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455612"/>
          </a:xfrm>
        </p:spPr>
        <p:txBody>
          <a:bodyPr/>
          <a:lstStyle/>
          <a:p>
            <a:r>
              <a:rPr lang="en-US" dirty="0"/>
              <a:t>FYP Proposal Defense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3504588"/>
              </p:ext>
            </p:extLst>
          </p:nvPr>
        </p:nvGraphicFramePr>
        <p:xfrm>
          <a:off x="584200" y="4149725"/>
          <a:ext cx="11023600" cy="7416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51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1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00FF"/>
                          </a:solidFill>
                        </a:rPr>
                        <a:t>03-134231-005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00FF"/>
                          </a:solidFill>
                        </a:rPr>
                        <a:t>Abdullah Asim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>
                          <a:solidFill>
                            <a:srgbClr val="0000FF"/>
                          </a:solidFill>
                        </a:rPr>
                        <a:t>03-134222-035.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dirty="0">
                          <a:solidFill>
                            <a:srgbClr val="0000FF"/>
                          </a:solidFill>
                        </a:rPr>
                        <a:t>Hussnain Khalid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337" y="297180"/>
            <a:ext cx="4048125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1346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BA01E4-CF76-4715-1EF5-5F2C24E46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 Mapping 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601301B-86A2-2251-4679-0F46D709EE4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68728970"/>
              </p:ext>
            </p:extLst>
          </p:nvPr>
        </p:nvGraphicFramePr>
        <p:xfrm>
          <a:off x="924791" y="1892011"/>
          <a:ext cx="10429008" cy="460086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80551">
                  <a:extLst>
                    <a:ext uri="{9D8B030D-6E8A-4147-A177-3AD203B41FA5}">
                      <a16:colId xmlns:a16="http://schemas.microsoft.com/office/drawing/2014/main" val="1414600277"/>
                    </a:ext>
                  </a:extLst>
                </a:gridCol>
                <a:gridCol w="3119405">
                  <a:extLst>
                    <a:ext uri="{9D8B030D-6E8A-4147-A177-3AD203B41FA5}">
                      <a16:colId xmlns:a16="http://schemas.microsoft.com/office/drawing/2014/main" val="1395363239"/>
                    </a:ext>
                  </a:extLst>
                </a:gridCol>
                <a:gridCol w="3119405">
                  <a:extLst>
                    <a:ext uri="{9D8B030D-6E8A-4147-A177-3AD203B41FA5}">
                      <a16:colId xmlns:a16="http://schemas.microsoft.com/office/drawing/2014/main" val="513562264"/>
                    </a:ext>
                  </a:extLst>
                </a:gridCol>
                <a:gridCol w="3709647">
                  <a:extLst>
                    <a:ext uri="{9D8B030D-6E8A-4147-A177-3AD203B41FA5}">
                      <a16:colId xmlns:a16="http://schemas.microsoft.com/office/drawing/2014/main" val="2900353962"/>
                    </a:ext>
                  </a:extLst>
                </a:gridCol>
              </a:tblGrid>
              <a:tr h="37730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highlight>
                            <a:srgbClr val="5B9BD5"/>
                          </a:highlight>
                        </a:rPr>
                        <a:t>CLO</a:t>
                      </a:r>
                      <a:endParaRPr lang="en-US" sz="1100" kern="100">
                        <a:effectLst/>
                        <a:highlight>
                          <a:srgbClr val="5B9BD5"/>
                        </a:highlight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90" marR="8890" marT="8890" marB="889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highlight>
                            <a:srgbClr val="5B9BD5"/>
                          </a:highlight>
                        </a:rPr>
                        <a:t>PLO</a:t>
                      </a:r>
                      <a:endParaRPr lang="en-US" sz="1100" kern="100">
                        <a:effectLst/>
                        <a:highlight>
                          <a:srgbClr val="5B9BD5"/>
                        </a:highlight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90" marR="8890" marT="8890" marB="889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highlight>
                            <a:srgbClr val="5B9BD5"/>
                          </a:highlight>
                        </a:rPr>
                        <a:t>Description</a:t>
                      </a:r>
                      <a:endParaRPr lang="en-US" sz="1100" kern="100">
                        <a:effectLst/>
                        <a:highlight>
                          <a:srgbClr val="5B9BD5"/>
                        </a:highlight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90" marR="8890" marT="8890" marB="889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highlight>
                            <a:srgbClr val="5B9BD5"/>
                          </a:highlight>
                        </a:rPr>
                        <a:t>Specified Aspects</a:t>
                      </a:r>
                      <a:endParaRPr lang="en-US" sz="1100" kern="100">
                        <a:effectLst/>
                        <a:highlight>
                          <a:srgbClr val="5B9BD5"/>
                        </a:highlight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90" marR="8890" marT="8890" marB="8890" anchor="b"/>
                </a:tc>
                <a:extLst>
                  <a:ext uri="{0D108BD9-81ED-4DB2-BD59-A6C34878D82A}">
                    <a16:rowId xmlns:a16="http://schemas.microsoft.com/office/drawing/2014/main" val="596387057"/>
                  </a:ext>
                </a:extLst>
              </a:tr>
              <a:tr h="56925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highlight>
                            <a:srgbClr val="5B9BD5"/>
                          </a:highlight>
                        </a:rPr>
                        <a:t>CLO1</a:t>
                      </a:r>
                      <a:endParaRPr lang="en-US" sz="1100" kern="100">
                        <a:effectLst/>
                        <a:highlight>
                          <a:srgbClr val="5B9BD5"/>
                        </a:highlight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90" marR="8890" marT="8890" marB="889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highlight>
                            <a:srgbClr val="D2DEEF"/>
                          </a:highlight>
                        </a:rPr>
                        <a:t>PLO3:Problem Analysis</a:t>
                      </a:r>
                      <a:endParaRPr lang="en-US" sz="1100" kern="100">
                        <a:effectLst/>
                        <a:highlight>
                          <a:srgbClr val="D2DEEF"/>
                        </a:highlight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highlight>
                            <a:srgbClr val="D2DEEF"/>
                          </a:highlight>
                        </a:rPr>
                        <a:t>Analyze lung cancer detection gaps to propose DL solutions </a:t>
                      </a:r>
                      <a:endParaRPr lang="en-US" sz="1100" kern="100" dirty="0">
                        <a:effectLst/>
                        <a:highlight>
                          <a:srgbClr val="D2DEEF"/>
                        </a:highlight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90" marR="8890" marT="8890" marB="889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1100" kern="100">
                        <a:effectLst/>
                        <a:highlight>
                          <a:srgbClr val="D2DEEF"/>
                        </a:highlight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90" marR="8890" marT="8890" marB="8890" anchor="b"/>
                </a:tc>
                <a:extLst>
                  <a:ext uri="{0D108BD9-81ED-4DB2-BD59-A6C34878D82A}">
                    <a16:rowId xmlns:a16="http://schemas.microsoft.com/office/drawing/2014/main" val="3319985262"/>
                  </a:ext>
                </a:extLst>
              </a:tr>
              <a:tr h="786929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highlight>
                            <a:srgbClr val="5B9BD5"/>
                          </a:highlight>
                        </a:rPr>
                        <a:t>CLO2</a:t>
                      </a:r>
                      <a:endParaRPr lang="en-US" sz="1100" kern="100">
                        <a:effectLst/>
                        <a:highlight>
                          <a:srgbClr val="5B9BD5"/>
                        </a:highlight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90" marR="8890" marT="8890" marB="889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highlight>
                            <a:srgbClr val="EAEFF7"/>
                          </a:highlight>
                        </a:rPr>
                        <a:t>PLO4:Design and Development of Solutions</a:t>
                      </a:r>
                      <a:endParaRPr lang="en-US" sz="1100" kern="100">
                        <a:effectLst/>
                        <a:highlight>
                          <a:srgbClr val="EAEFF7"/>
                        </a:highlight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highlight>
                            <a:srgbClr val="EAEFF7"/>
                          </a:highlight>
                        </a:rPr>
                        <a:t>Design U-Net and CNN-RNN hybrid computing solutions </a:t>
                      </a:r>
                      <a:endParaRPr lang="en-US" sz="1100" kern="100" dirty="0">
                        <a:effectLst/>
                        <a:highlight>
                          <a:srgbClr val="EAEFF7"/>
                        </a:highlight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90" marR="8890" marT="8890" marB="889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1100" kern="100">
                        <a:effectLst/>
                        <a:highlight>
                          <a:srgbClr val="EAEFF7"/>
                        </a:highlight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90" marR="8890" marT="8890" marB="8890" anchor="b"/>
                </a:tc>
                <a:extLst>
                  <a:ext uri="{0D108BD9-81ED-4DB2-BD59-A6C34878D82A}">
                    <a16:rowId xmlns:a16="http://schemas.microsoft.com/office/drawing/2014/main" val="1096405850"/>
                  </a:ext>
                </a:extLst>
              </a:tr>
              <a:tr h="56925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highlight>
                            <a:srgbClr val="5B9BD5"/>
                          </a:highlight>
                        </a:rPr>
                        <a:t>CLO3</a:t>
                      </a:r>
                      <a:endParaRPr lang="en-US" sz="1100" kern="100">
                        <a:effectLst/>
                        <a:highlight>
                          <a:srgbClr val="5B9BD5"/>
                        </a:highlight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90" marR="8890" marT="8890" marB="889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highlight>
                            <a:srgbClr val="D2DEEF"/>
                          </a:highlight>
                        </a:rPr>
                        <a:t>PLO5:Modern Tool Usage</a:t>
                      </a:r>
                      <a:endParaRPr lang="en-US" sz="1100" kern="100">
                        <a:effectLst/>
                        <a:highlight>
                          <a:srgbClr val="D2DEEF"/>
                        </a:highlight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highlight>
                            <a:srgbClr val="D2DEEF"/>
                          </a:highlight>
                        </a:rPr>
                        <a:t>Use Flutter, </a:t>
                      </a:r>
                      <a:r>
                        <a:rPr lang="en-US" sz="1100" dirty="0" err="1">
                          <a:highlight>
                            <a:srgbClr val="D2DEEF"/>
                          </a:highlight>
                        </a:rPr>
                        <a:t>FastAPI</a:t>
                      </a:r>
                      <a:r>
                        <a:rPr lang="en-US" sz="1100" dirty="0">
                          <a:highlight>
                            <a:srgbClr val="D2DEEF"/>
                          </a:highlight>
                        </a:rPr>
                        <a:t>, and </a:t>
                      </a:r>
                      <a:r>
                        <a:rPr lang="en-US" sz="1100" dirty="0" err="1">
                          <a:highlight>
                            <a:srgbClr val="D2DEEF"/>
                          </a:highlight>
                        </a:rPr>
                        <a:t>PyTorch</a:t>
                      </a:r>
                      <a:r>
                        <a:rPr lang="en-US" sz="1100" dirty="0">
                          <a:highlight>
                            <a:srgbClr val="D2DEEF"/>
                          </a:highlight>
                        </a:rPr>
                        <a:t> for development</a:t>
                      </a:r>
                      <a:endParaRPr lang="en-US" sz="1100" kern="100" dirty="0">
                        <a:effectLst/>
                        <a:highlight>
                          <a:srgbClr val="D2DEEF"/>
                        </a:highlight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90" marR="8890" marT="8890" marB="889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1100" kern="100">
                        <a:effectLst/>
                        <a:highlight>
                          <a:srgbClr val="D2DEEF"/>
                        </a:highlight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90" marR="8890" marT="8890" marB="8890" anchor="b"/>
                </a:tc>
                <a:extLst>
                  <a:ext uri="{0D108BD9-81ED-4DB2-BD59-A6C34878D82A}">
                    <a16:rowId xmlns:a16="http://schemas.microsoft.com/office/drawing/2014/main" val="4151319833"/>
                  </a:ext>
                </a:extLst>
              </a:tr>
              <a:tr h="56925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highlight>
                            <a:srgbClr val="5B9BD5"/>
                          </a:highlight>
                        </a:rPr>
                        <a:t>CLO4</a:t>
                      </a:r>
                      <a:endParaRPr lang="en-US" sz="1100" kern="100">
                        <a:effectLst/>
                        <a:highlight>
                          <a:srgbClr val="5B9BD5"/>
                        </a:highlight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90" marR="8890" marT="8890" marB="889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highlight>
                            <a:srgbClr val="EAEFF7"/>
                          </a:highlight>
                        </a:rPr>
                        <a:t>PLO6:Individual and Team Work</a:t>
                      </a:r>
                      <a:endParaRPr lang="en-US" sz="1100" kern="100">
                        <a:effectLst/>
                        <a:highlight>
                          <a:srgbClr val="EAEFF7"/>
                        </a:highlight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highlight>
                            <a:srgbClr val="EAEFF7"/>
                          </a:highlight>
                        </a:rPr>
                        <a:t>Demonstrate effective teamwork between two members</a:t>
                      </a:r>
                      <a:endParaRPr lang="en-US" sz="1100" kern="100" dirty="0">
                        <a:effectLst/>
                        <a:highlight>
                          <a:srgbClr val="EAEFF7"/>
                        </a:highlight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90" marR="8890" marT="8890" marB="889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1100" kern="100">
                        <a:effectLst/>
                        <a:highlight>
                          <a:srgbClr val="EAEFF7"/>
                        </a:highlight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90" marR="8890" marT="8890" marB="8890" anchor="b"/>
                </a:tc>
                <a:extLst>
                  <a:ext uri="{0D108BD9-81ED-4DB2-BD59-A6C34878D82A}">
                    <a16:rowId xmlns:a16="http://schemas.microsoft.com/office/drawing/2014/main" val="1188056806"/>
                  </a:ext>
                </a:extLst>
              </a:tr>
              <a:tr h="786929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highlight>
                            <a:srgbClr val="5B9BD5"/>
                          </a:highlight>
                        </a:rPr>
                        <a:t>CLO5</a:t>
                      </a:r>
                      <a:endParaRPr lang="en-US" sz="1100" kern="100">
                        <a:effectLst/>
                        <a:highlight>
                          <a:srgbClr val="5B9BD5"/>
                        </a:highlight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90" marR="8890" marT="8890" marB="889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highlight>
                            <a:srgbClr val="D2DEEF"/>
                          </a:highlight>
                        </a:rPr>
                        <a:t>PLO10:Life Long Learning</a:t>
                      </a:r>
                      <a:endParaRPr lang="en-US" sz="1100" kern="100">
                        <a:effectLst/>
                        <a:highlight>
                          <a:srgbClr val="D2DEEF"/>
                        </a:highlight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highlight>
                            <a:srgbClr val="D2DEEF"/>
                          </a:highlight>
                        </a:rPr>
                        <a:t>Understand legal/clinical implications of AI in healthcare</a:t>
                      </a:r>
                      <a:endParaRPr lang="en-US" sz="1100" kern="100" dirty="0">
                        <a:effectLst/>
                        <a:highlight>
                          <a:srgbClr val="D2DEEF"/>
                        </a:highlight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90" marR="8890" marT="8890" marB="889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1100" kern="100">
                        <a:effectLst/>
                        <a:highlight>
                          <a:srgbClr val="D2DEEF"/>
                        </a:highlight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90" marR="8890" marT="8890" marB="8890" anchor="b"/>
                </a:tc>
                <a:extLst>
                  <a:ext uri="{0D108BD9-81ED-4DB2-BD59-A6C34878D82A}">
                    <a16:rowId xmlns:a16="http://schemas.microsoft.com/office/drawing/2014/main" val="457111075"/>
                  </a:ext>
                </a:extLst>
              </a:tr>
              <a:tr h="94194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highlight>
                            <a:srgbClr val="5B9BD5"/>
                          </a:highlight>
                        </a:rPr>
                        <a:t>CLO6</a:t>
                      </a:r>
                      <a:endParaRPr lang="en-US" sz="1100" kern="100">
                        <a:effectLst/>
                        <a:highlight>
                          <a:srgbClr val="5B9BD5"/>
                        </a:highlight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90" marR="8890" marT="8890" marB="889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highlight>
                            <a:srgbClr val="EAEFF7"/>
                          </a:highlight>
                        </a:rPr>
                        <a:t>PLO7:Communication</a:t>
                      </a:r>
                      <a:endParaRPr lang="en-US" sz="1100" kern="100">
                        <a:effectLst/>
                        <a:highlight>
                          <a:srgbClr val="EAEFF7"/>
                        </a:highlight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dirty="0">
                          <a:highlight>
                            <a:srgbClr val="EAEFF7"/>
                          </a:highlight>
                        </a:rPr>
                        <a:t>Present technical findings through reports and defense</a:t>
                      </a:r>
                      <a:endParaRPr lang="en-US" sz="1100" kern="100" dirty="0">
                        <a:effectLst/>
                        <a:highlight>
                          <a:srgbClr val="EAEFF7"/>
                        </a:highlight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90" marR="8890" marT="8890" marB="889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1100" kern="100" dirty="0">
                        <a:effectLst/>
                        <a:highlight>
                          <a:srgbClr val="EAEFF7"/>
                        </a:highlight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90" marR="8890" marT="8890" marB="8890" anchor="b"/>
                </a:tc>
                <a:extLst>
                  <a:ext uri="{0D108BD9-81ED-4DB2-BD59-A6C34878D82A}">
                    <a16:rowId xmlns:a16="http://schemas.microsoft.com/office/drawing/2014/main" val="26877561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466703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Lung cancer is a leading cause of global mortality</a:t>
            </a:r>
          </a:p>
          <a:p>
            <a:r>
              <a:rPr lang="en-US" dirty="0">
                <a:solidFill>
                  <a:srgbClr val="0000FF"/>
                </a:solidFill>
              </a:rPr>
              <a:t>Radiologists face fatigue from interpreting 3D CT scan stacks </a:t>
            </a:r>
          </a:p>
          <a:p>
            <a:r>
              <a:rPr lang="en-US" dirty="0">
                <a:solidFill>
                  <a:srgbClr val="0000FF"/>
                </a:solidFill>
              </a:rPr>
              <a:t>Current AI systems lack transparency "Black Boxes“</a:t>
            </a:r>
          </a:p>
          <a:p>
            <a:r>
              <a:rPr lang="en-US" dirty="0">
                <a:solidFill>
                  <a:srgbClr val="0000FF"/>
                </a:solidFill>
              </a:rPr>
              <a:t>Proposed system uses slice-level analysis for higher precision</a:t>
            </a:r>
          </a:p>
          <a:p>
            <a:r>
              <a:rPr lang="en-US" dirty="0">
                <a:solidFill>
                  <a:srgbClr val="0000FF"/>
                </a:solidFill>
              </a:rPr>
              <a:t>Visual "Confidence Aware" markers (Red/Yellow/Green) guide clinicians</a:t>
            </a:r>
          </a:p>
          <a:p>
            <a:r>
              <a:rPr lang="en-US" dirty="0">
                <a:solidFill>
                  <a:srgbClr val="0000FF"/>
                </a:solidFill>
              </a:rPr>
              <a:t>Spatio-temporal modeling predicts future tumor development regions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9556" y="250985"/>
            <a:ext cx="1985264" cy="560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62297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rgbClr val="0000FF"/>
                </a:solidFill>
              </a:rPr>
              <a:t>To develop a segmentation-based DL model using Residual U-Net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rgbClr val="0000FF"/>
                </a:solidFill>
              </a:rPr>
              <a:t>To implement "Slice-Level Risk Trend" analysis for small lesions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rgbClr val="0000FF"/>
                </a:solidFill>
              </a:rPr>
              <a:t>To design a "Confidence Aware" visual display with heat maps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rgbClr val="0000FF"/>
                </a:solidFill>
              </a:rPr>
              <a:t>To incorporate multi-level interpretability (Global and Pixel-level)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rgbClr val="0000FF"/>
                </a:solidFill>
              </a:rPr>
              <a:t>To predict the "Next Likely Development Region" using AI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rgbClr val="0000FF"/>
                </a:solidFill>
              </a:rPr>
              <a:t>To create a responsive Flutter desktop dashboard for radiologists</a:t>
            </a:r>
          </a:p>
          <a:p>
            <a:pPr marL="0" indent="0">
              <a:buNone/>
            </a:pPr>
            <a:r>
              <a:rPr lang="en-US" dirty="0"/>
              <a:t>Novelty: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rgbClr val="0000FF"/>
                </a:solidFill>
              </a:rPr>
              <a:t>Moves beyond static "Yes/No" detection into interpretable forecasting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rgbClr val="0000FF"/>
                </a:solidFill>
              </a:rPr>
              <a:t>Examines every individual scan layer instead of broad verdicts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rgbClr val="0000FF"/>
                </a:solidFill>
              </a:rPr>
              <a:t>Introduces the "Next Likely Development Region" for growth timing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rgbClr val="0000FF"/>
                </a:solidFill>
              </a:rPr>
              <a:t>Combines local pixel-level explanations with global risk trends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9556" y="250985"/>
            <a:ext cx="1985264" cy="560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05333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Deliverable and Beneficiaries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Following </a:t>
            </a:r>
            <a:r>
              <a:rPr lang="en-US" dirty="0">
                <a:solidFill>
                  <a:srgbClr val="0000FF"/>
                </a:solidFill>
              </a:rPr>
              <a:t>are</a:t>
            </a:r>
            <a:r>
              <a:rPr lang="en-US" dirty="0"/>
              <a:t> the deliverables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>
                <a:solidFill>
                  <a:srgbClr val="0000FF"/>
                </a:solidFill>
              </a:rPr>
              <a:t>Radiologist Decision Support Dashboard (Desktop App)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>
                <a:solidFill>
                  <a:srgbClr val="0000FF"/>
                </a:solidFill>
              </a:rPr>
              <a:t>Python-based AI Engine (</a:t>
            </a:r>
            <a:r>
              <a:rPr lang="en-US" dirty="0" err="1">
                <a:solidFill>
                  <a:srgbClr val="0000FF"/>
                </a:solidFill>
              </a:rPr>
              <a:t>FastAPI</a:t>
            </a:r>
            <a:r>
              <a:rPr lang="en-US" dirty="0">
                <a:solidFill>
                  <a:srgbClr val="0000FF"/>
                </a:solidFill>
              </a:rPr>
              <a:t>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>
                <a:solidFill>
                  <a:srgbClr val="0000FF"/>
                </a:solidFill>
              </a:rPr>
              <a:t>Spatio-Temporal Forecasting Module</a:t>
            </a:r>
          </a:p>
          <a:p>
            <a:endParaRPr lang="en-US" dirty="0">
              <a:solidFill>
                <a:srgbClr val="0000FF"/>
              </a:solidFill>
            </a:endParaRPr>
          </a:p>
          <a:p>
            <a:r>
              <a:rPr lang="en-US" dirty="0"/>
              <a:t>Following </a:t>
            </a:r>
            <a:r>
              <a:rPr lang="en-US" dirty="0">
                <a:solidFill>
                  <a:srgbClr val="0000FF"/>
                </a:solidFill>
              </a:rPr>
              <a:t>are</a:t>
            </a:r>
            <a:r>
              <a:rPr lang="en-US" dirty="0"/>
              <a:t> the beneficiaries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>
                <a:solidFill>
                  <a:srgbClr val="0000FF"/>
                </a:solidFill>
              </a:rPr>
              <a:t>Radiologists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>
                <a:solidFill>
                  <a:srgbClr val="0000FF"/>
                </a:solidFill>
              </a:rPr>
              <a:t>Patients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>
                <a:solidFill>
                  <a:srgbClr val="0000FF"/>
                </a:solidFill>
              </a:rPr>
              <a:t>Hospitals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9556" y="250985"/>
            <a:ext cx="1985264" cy="560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60080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PRIMARY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Automatic lung nodule detection using Deep Learning 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Heat maps (Grad-CAM) showing AI focus areas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Interactive desktop application for DICOM/NIFTI file viewing</a:t>
            </a:r>
          </a:p>
          <a:p>
            <a:r>
              <a:rPr lang="en-US" dirty="0"/>
              <a:t>OPTIONAL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>
                <a:solidFill>
                  <a:srgbClr val="0000FF"/>
                </a:solidFill>
              </a:rPr>
              <a:t>Server-side processing for heavy AI computations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>
                <a:solidFill>
                  <a:srgbClr val="0000FF"/>
                </a:solidFill>
              </a:rPr>
              <a:t>Local database synchronization via Firebase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9556" y="250985"/>
            <a:ext cx="1985264" cy="560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23858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9556" y="250985"/>
            <a:ext cx="1985264" cy="560545"/>
          </a:xfrm>
          <a:prstGeom prst="rect">
            <a:avLst/>
          </a:prstGeom>
        </p:spPr>
      </p:pic>
      <p:sp>
        <p:nvSpPr>
          <p:cNvPr id="9" name="Rectangle 5">
            <a:extLst>
              <a:ext uri="{FF2B5EF4-FFF2-40B4-BE49-F238E27FC236}">
                <a16:creationId xmlns:a16="http://schemas.microsoft.com/office/drawing/2014/main" id="{1FDD5F37-5CBD-5C58-7E19-26C3FBDDAC4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306840"/>
            <a:ext cx="10300603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PK" altLang="en-PK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</a:rPr>
              <a:t>Primary Dataset:</a:t>
            </a:r>
            <a:r>
              <a:rPr kumimoji="0" lang="en-PK" altLang="en-PK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</a:rPr>
              <a:t> Data is sourced from </a:t>
            </a:r>
            <a:r>
              <a:rPr kumimoji="0" lang="en-PK" altLang="en-PK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</a:rPr>
              <a:t>Kaggle</a:t>
            </a:r>
            <a:r>
              <a:rPr kumimoji="0" lang="en-PK" altLang="en-PK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</a:rPr>
              <a:t> (specifically the Lung Image Database Consortium / LIDC-IDRI or similar lung cancer datasets).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PK" altLang="en-PK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</a:rPr>
              <a:t>Data Format:</a:t>
            </a:r>
            <a:r>
              <a:rPr kumimoji="0" lang="en-PK" altLang="en-PK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</a:rPr>
              <a:t> Supports </a:t>
            </a:r>
            <a:r>
              <a:rPr kumimoji="0" lang="en-PK" altLang="en-PK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</a:rPr>
              <a:t>DICOM</a:t>
            </a:r>
            <a:r>
              <a:rPr kumimoji="0" lang="en-PK" altLang="en-PK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PK" altLang="en-PK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</a:rPr>
              <a:t>NIfTI</a:t>
            </a:r>
            <a:r>
              <a:rPr kumimoji="0" lang="en-PK" altLang="en-PK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</a:rPr>
              <a:t> medical imaging standards for high-resolution 3D analysis.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PK" altLang="en-PK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</a:rPr>
              <a:t>Addressing Imbalance:</a:t>
            </a:r>
            <a:r>
              <a:rPr kumimoji="0" lang="en-PK" altLang="en-PK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</a:rPr>
              <a:t> Most scans in collections are often healthy; the methodology uses </a:t>
            </a:r>
            <a:r>
              <a:rPr kumimoji="0" lang="en-PK" altLang="en-PK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</a:rPr>
              <a:t>Data Augmentation </a:t>
            </a:r>
            <a:r>
              <a:rPr kumimoji="0" lang="en-PK" altLang="en-PK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</a:rPr>
              <a:t>(rotation, brightness, and shape twisting) to weight cancer cases effectively.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PK" altLang="en-PK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</a:rPr>
              <a:t>Normalization:</a:t>
            </a:r>
            <a:r>
              <a:rPr kumimoji="0" lang="en-PK" altLang="en-PK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</a:rPr>
              <a:t> Implementation of </a:t>
            </a:r>
            <a:r>
              <a:rPr kumimoji="0" lang="en-PK" altLang="en-PK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</a:rPr>
              <a:t>HU (Hounsfield Unit) Normalization</a:t>
            </a:r>
            <a:r>
              <a:rPr kumimoji="0" lang="en-PK" altLang="en-PK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</a:rPr>
              <a:t> and resampling to ensure consistency across different CT scanners</a:t>
            </a:r>
          </a:p>
        </p:txBody>
      </p:sp>
    </p:spTree>
    <p:extLst>
      <p:ext uri="{BB962C8B-B14F-4D97-AF65-F5344CB8AC3E}">
        <p14:creationId xmlns:p14="http://schemas.microsoft.com/office/powerpoint/2010/main" val="38098051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348C0-41CB-C96A-5DFF-444F2BBC3C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 [2/2]</a:t>
            </a:r>
            <a:endParaRPr lang="en-PK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6A03B0C-A35F-66FD-D2DC-6B555C21260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20213" y="1489408"/>
            <a:ext cx="10515600" cy="4832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PK" dirty="0">
                <a:solidFill>
                  <a:srgbClr val="0000FF"/>
                </a:solidFill>
                <a:latin typeface="Arial" panose="020B0604020202020204" pitchFamily="34" charset="0"/>
              </a:rPr>
              <a:t>Nodule Segmentation: Employs a Residual U-Net architecture for high-precision boundary detection of lung nodules.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PK" dirty="0">
              <a:solidFill>
                <a:srgbClr val="0000FF"/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PK" dirty="0">
                <a:solidFill>
                  <a:srgbClr val="0000FF"/>
                </a:solidFill>
                <a:latin typeface="Arial" panose="020B0604020202020204" pitchFamily="34" charset="0"/>
              </a:rPr>
              <a:t>Risk Stratification: A CNN-RNN hybrid model analyzes the segmented regions to calculate malignancy probabilities.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PK" dirty="0">
              <a:solidFill>
                <a:srgbClr val="0000FF"/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PK" dirty="0">
                <a:solidFill>
                  <a:srgbClr val="0000FF"/>
                </a:solidFill>
                <a:latin typeface="Arial" panose="020B0604020202020204" pitchFamily="34" charset="0"/>
              </a:rPr>
              <a:t>Spatio-Temporal Modeling: Watches how tissue "bends and stretches" to predict the "Next Likely Development Region".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PK" dirty="0">
              <a:solidFill>
                <a:srgbClr val="0000FF"/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PK" dirty="0">
                <a:solidFill>
                  <a:srgbClr val="0000FF"/>
                </a:solidFill>
                <a:latin typeface="Arial" panose="020B0604020202020204" pitchFamily="34" charset="0"/>
              </a:rPr>
              <a:t>Multi-Level Interpretability: Uses Grad-CAM heatmaps to highlight specific pixels that influenced the AI’s decision</a:t>
            </a:r>
            <a:endParaRPr kumimoji="0" lang="en-PK" altLang="en-PK" b="0" i="0" u="none" strike="noStrike" cap="none" normalizeH="0" baseline="0" dirty="0">
              <a:ln>
                <a:noFill/>
              </a:ln>
              <a:solidFill>
                <a:srgbClr val="0000FF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88952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60997-7E2C-B6A6-26A1-A4F453D97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 [3/4]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4BBFBD-9422-041C-733E-2C4B14DB8E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3000" dirty="0">
                <a:solidFill>
                  <a:srgbClr val="0000FF"/>
                </a:solidFill>
              </a:rPr>
              <a:t>Client-Server Design: Splits the system into a lightweight frontend and a powerful server-side backend.</a:t>
            </a:r>
          </a:p>
          <a:p>
            <a:pPr marL="0" indent="0">
              <a:buNone/>
            </a:pPr>
            <a:endParaRPr lang="en-US" dirty="0">
              <a:solidFill>
                <a:srgbClr val="0000FF"/>
              </a:solidFill>
            </a:endParaRPr>
          </a:p>
          <a:p>
            <a:r>
              <a:rPr lang="en-US" sz="3000" dirty="0">
                <a:solidFill>
                  <a:srgbClr val="0000FF"/>
                </a:solidFill>
              </a:rPr>
              <a:t>Backend Processing: Python </a:t>
            </a:r>
            <a:r>
              <a:rPr lang="en-US" sz="3000" dirty="0" err="1">
                <a:solidFill>
                  <a:srgbClr val="0000FF"/>
                </a:solidFill>
              </a:rPr>
              <a:t>FastAPI</a:t>
            </a:r>
            <a:r>
              <a:rPr lang="en-US" sz="3000" dirty="0">
                <a:solidFill>
                  <a:srgbClr val="0000FF"/>
                </a:solidFill>
              </a:rPr>
              <a:t> handles heavy computations and AI logic quietly behind the scenes.</a:t>
            </a:r>
          </a:p>
          <a:p>
            <a:pPr marL="0" indent="0">
              <a:buNone/>
            </a:pPr>
            <a:endParaRPr lang="en-US" dirty="0">
              <a:solidFill>
                <a:srgbClr val="0000FF"/>
              </a:solidFill>
            </a:endParaRPr>
          </a:p>
          <a:p>
            <a:r>
              <a:rPr lang="en-US" sz="3000" dirty="0">
                <a:solidFill>
                  <a:srgbClr val="0000FF"/>
                </a:solidFill>
              </a:rPr>
              <a:t>Database Integration: Firebase manages real-time updates for patient logs, metadata, and cloud storage of scans.</a:t>
            </a:r>
          </a:p>
          <a:p>
            <a:pPr marL="0" indent="0">
              <a:buNone/>
            </a:pPr>
            <a:endParaRPr lang="en-US" dirty="0">
              <a:solidFill>
                <a:srgbClr val="0000FF"/>
              </a:solidFill>
            </a:endParaRPr>
          </a:p>
          <a:p>
            <a:r>
              <a:rPr lang="en-US" sz="3000" dirty="0">
                <a:solidFill>
                  <a:srgbClr val="0000FF"/>
                </a:solidFill>
              </a:rPr>
              <a:t>Communication: Utilizes a REST API with a shared JSON structure to ensure smooth data exchange between Dart (Flutter) and Python.</a:t>
            </a:r>
            <a:endParaRPr lang="en-PK" sz="3000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48411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D659B-D810-4CDC-538B-B50F1F2A0E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 [4/4]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E40AE5-4012-BF02-FFF5-39F0900F6D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sz="3600" dirty="0">
                <a:solidFill>
                  <a:srgbClr val="0000FF"/>
                </a:solidFill>
              </a:rPr>
              <a:t>Interactive Dashboard: Built with Flutter for a responsive desktop experience that adjusts to any window size.</a:t>
            </a:r>
          </a:p>
          <a:p>
            <a:endParaRPr lang="en-US" dirty="0">
              <a:solidFill>
                <a:srgbClr val="0000FF"/>
              </a:solidFill>
            </a:endParaRPr>
          </a:p>
          <a:p>
            <a:r>
              <a:rPr lang="en-US" sz="3600" dirty="0">
                <a:solidFill>
                  <a:srgbClr val="0000FF"/>
                </a:solidFill>
              </a:rPr>
              <a:t>Confidence Indicators: A color-coded system guides the radiologist without needing words:</a:t>
            </a:r>
          </a:p>
          <a:p>
            <a:r>
              <a:rPr lang="en-US" sz="3600" dirty="0">
                <a:solidFill>
                  <a:srgbClr val="0000FF"/>
                </a:solidFill>
              </a:rPr>
              <a:t>Red (Score &gt; 70%): High Danger/Malignant</a:t>
            </a:r>
            <a:r>
              <a:rPr lang="en-US" sz="4000" dirty="0">
                <a:solidFill>
                  <a:srgbClr val="0000FF"/>
                </a:solidFill>
              </a:rPr>
              <a:t>.</a:t>
            </a:r>
            <a:endParaRPr lang="en-US" dirty="0">
              <a:solidFill>
                <a:srgbClr val="0000FF"/>
              </a:solidFill>
            </a:endParaRPr>
          </a:p>
          <a:p>
            <a:r>
              <a:rPr lang="en-US" sz="3300" dirty="0">
                <a:solidFill>
                  <a:srgbClr val="0000FF"/>
                </a:solidFill>
              </a:rPr>
              <a:t>Yellow (30% - 70%): Uncertain/Physician review recommended.</a:t>
            </a:r>
          </a:p>
          <a:p>
            <a:r>
              <a:rPr lang="en-US" sz="3300" dirty="0">
                <a:solidFill>
                  <a:srgbClr val="0000FF"/>
                </a:solidFill>
              </a:rPr>
              <a:t>Green (Score &lt; 30%): Benign/Clear area</a:t>
            </a:r>
            <a:r>
              <a:rPr lang="en-US" dirty="0">
                <a:solidFill>
                  <a:srgbClr val="0000FF"/>
                </a:solidFill>
              </a:rPr>
              <a:t>.</a:t>
            </a:r>
          </a:p>
          <a:p>
            <a:pPr marL="0" indent="0">
              <a:buNone/>
            </a:pPr>
            <a:endParaRPr lang="en-US" dirty="0">
              <a:solidFill>
                <a:srgbClr val="0000FF"/>
              </a:solidFill>
            </a:endParaRPr>
          </a:p>
          <a:p>
            <a:r>
              <a:rPr lang="en-US" sz="3600" dirty="0">
                <a:solidFill>
                  <a:srgbClr val="0000FF"/>
                </a:solidFill>
              </a:rPr>
              <a:t>Slice-Level Analysis: Replaces a single "yes/no" verdict with a detailed risk analysis for every individual scan layer.</a:t>
            </a:r>
            <a:endParaRPr lang="en-PK" sz="3600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02481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6FA284-7F23-96F7-F1D3-D236153A8F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Flow Chart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18CA857-4517-ABFE-E08E-C352DB64B1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1193" y="118546"/>
            <a:ext cx="4901784" cy="6093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09023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Resources and Risks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solidFill>
                  <a:srgbClr val="0000FF"/>
                </a:solidFill>
              </a:rPr>
              <a:t>Hardware: High-performance laptops ($1,350)</a:t>
            </a:r>
          </a:p>
          <a:p>
            <a:r>
              <a:rPr lang="en-US" dirty="0">
                <a:solidFill>
                  <a:srgbClr val="0000FF"/>
                </a:solidFill>
              </a:rPr>
              <a:t>Cloud: Google </a:t>
            </a:r>
            <a:r>
              <a:rPr lang="en-US" dirty="0" err="1">
                <a:solidFill>
                  <a:srgbClr val="0000FF"/>
                </a:solidFill>
              </a:rPr>
              <a:t>Colab</a:t>
            </a:r>
            <a:r>
              <a:rPr lang="en-US" dirty="0">
                <a:solidFill>
                  <a:srgbClr val="0000FF"/>
                </a:solidFill>
              </a:rPr>
              <a:t> Pro for model training</a:t>
            </a:r>
          </a:p>
          <a:p>
            <a:r>
              <a:rPr lang="en-US" dirty="0">
                <a:solidFill>
                  <a:srgbClr val="0000FF"/>
                </a:solidFill>
              </a:rPr>
              <a:t>Team: Proficiency in Python, Flutter, and DL</a:t>
            </a:r>
          </a:p>
          <a:p>
            <a:r>
              <a:rPr lang="en-US" dirty="0">
                <a:solidFill>
                  <a:srgbClr val="0000FF"/>
                </a:solidFill>
              </a:rPr>
              <a:t>Budget: Rs. </a:t>
            </a:r>
            <a:r>
              <a:rPr lang="en-PK" b="1" dirty="0">
                <a:solidFill>
                  <a:srgbClr val="0000FF"/>
                </a:solidFill>
              </a:rPr>
              <a:t>$1,475 (~PKR 413,000)</a:t>
            </a:r>
            <a:r>
              <a:rPr lang="en-US" dirty="0">
                <a:solidFill>
                  <a:srgbClr val="0000FF"/>
                </a:solidFill>
              </a:rPr>
              <a:t> </a:t>
            </a:r>
          </a:p>
          <a:p>
            <a:r>
              <a:rPr lang="en-US" dirty="0"/>
              <a:t>Risks</a:t>
            </a:r>
          </a:p>
          <a:p>
            <a:r>
              <a:rPr lang="en-US" b="1" dirty="0">
                <a:solidFill>
                  <a:srgbClr val="0000FF"/>
                </a:solidFill>
              </a:rPr>
              <a:t>Data Imbalance:</a:t>
            </a:r>
            <a:r>
              <a:rPr lang="en-US" dirty="0">
                <a:solidFill>
                  <a:srgbClr val="0000FF"/>
                </a:solidFill>
              </a:rPr>
              <a:t> Mitigated by angle/brightness augmentation</a:t>
            </a:r>
            <a:endParaRPr lang="en-US" b="1" dirty="0">
              <a:solidFill>
                <a:srgbClr val="0000FF"/>
              </a:solidFill>
            </a:endParaRPr>
          </a:p>
          <a:p>
            <a:r>
              <a:rPr lang="en-US" b="1" dirty="0">
                <a:solidFill>
                  <a:srgbClr val="0000FF"/>
                </a:solidFill>
              </a:rPr>
              <a:t>Hardware Strain:</a:t>
            </a:r>
            <a:r>
              <a:rPr lang="en-US" dirty="0">
                <a:solidFill>
                  <a:srgbClr val="0000FF"/>
                </a:solidFill>
              </a:rPr>
              <a:t> Mitigated by sequential image processing</a:t>
            </a:r>
          </a:p>
          <a:p>
            <a:r>
              <a:rPr lang="en-US" dirty="0">
                <a:solidFill>
                  <a:srgbClr val="0000FF"/>
                </a:solidFill>
              </a:rPr>
              <a:t>Integration: Speaking through shared JSON structures (REST API)</a:t>
            </a:r>
            <a:br>
              <a:rPr lang="en-US" dirty="0">
                <a:solidFill>
                  <a:srgbClr val="0000FF"/>
                </a:solidFill>
              </a:rPr>
            </a:br>
            <a:endParaRPr lang="en-US" dirty="0">
              <a:solidFill>
                <a:srgbClr val="0000FF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9556" y="250985"/>
            <a:ext cx="1985264" cy="560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75871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Gantt Chart [7</a:t>
            </a:r>
            <a:r>
              <a:rPr lang="en-US" baseline="30000" dirty="0"/>
              <a:t>th</a:t>
            </a:r>
            <a:r>
              <a:rPr lang="en-US" dirty="0"/>
              <a:t> Semester]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1</a:t>
            </a:r>
            <a:r>
              <a:rPr lang="en-US" baseline="30000" dirty="0">
                <a:solidFill>
                  <a:srgbClr val="0000FF"/>
                </a:solidFill>
              </a:rPr>
              <a:t>st</a:t>
            </a:r>
            <a:r>
              <a:rPr lang="en-US" dirty="0">
                <a:solidFill>
                  <a:srgbClr val="0000FF"/>
                </a:solidFill>
              </a:rPr>
              <a:t> Gantt Chart Figure from your proposal</a:t>
            </a:r>
          </a:p>
          <a:p>
            <a:endParaRPr lang="en-US" dirty="0">
              <a:solidFill>
                <a:srgbClr val="0000FF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9556" y="250985"/>
            <a:ext cx="1985264" cy="560545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2F7004D-B0CF-075A-CA02-6159A83968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0019940"/>
              </p:ext>
            </p:extLst>
          </p:nvPr>
        </p:nvGraphicFramePr>
        <p:xfrm>
          <a:off x="838200" y="2352737"/>
          <a:ext cx="10515600" cy="382422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212258838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20140194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68441057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085045237"/>
                    </a:ext>
                  </a:extLst>
                </a:gridCol>
              </a:tblGrid>
              <a:tr h="32116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K" sz="800" kern="100">
                          <a:effectLst/>
                        </a:rPr>
                        <a:t>Task / Activity</a:t>
                      </a:r>
                      <a:endParaRPr lang="en-PK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K" sz="800" kern="100">
                          <a:effectLst/>
                        </a:rPr>
                        <a:t>Month 1-2</a:t>
                      </a:r>
                      <a:endParaRPr lang="en-PK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K" sz="800" kern="100">
                          <a:effectLst/>
                        </a:rPr>
                        <a:t>Month 3-4</a:t>
                      </a:r>
                      <a:endParaRPr lang="en-PK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K" sz="800" kern="100">
                          <a:effectLst/>
                        </a:rPr>
                        <a:t>Month 5-6</a:t>
                      </a:r>
                      <a:endParaRPr lang="en-PK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004435767"/>
                  </a:ext>
                </a:extLst>
              </a:tr>
              <a:tr h="121807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K" sz="800" kern="100">
                          <a:effectLst/>
                        </a:rPr>
                        <a:t>1. Model Design &amp; Architecture</a:t>
                      </a:r>
                      <a:endParaRPr lang="en-PK" sz="1100" kern="100"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br>
                        <a:rPr lang="en-PK" sz="800" kern="100">
                          <a:effectLst/>
                        </a:rPr>
                      </a:br>
                      <a:endParaRPr lang="en-PK" sz="1100" kern="100"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K" sz="800" kern="100">
                          <a:effectLst/>
                        </a:rPr>
                        <a:t>(Selecting algorithms, designing database schema, and planning the API)</a:t>
                      </a:r>
                      <a:endParaRPr lang="en-PK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K" sz="800" kern="100">
                          <a:effectLst/>
                        </a:rPr>
                        <a:t>██</a:t>
                      </a:r>
                      <a:endParaRPr lang="en-PK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endParaRPr lang="en-PK" sz="1100" kern="1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endParaRPr lang="en-PK" sz="1100" kern="1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435696624"/>
                  </a:ext>
                </a:extLst>
              </a:tr>
              <a:tr h="121807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K" sz="800" kern="100">
                          <a:effectLst/>
                        </a:rPr>
                        <a:t>2. AI Implementation (Backend)</a:t>
                      </a:r>
                      <a:endParaRPr lang="en-PK" sz="1100" kern="100"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br>
                        <a:rPr lang="en-PK" sz="800" kern="100">
                          <a:effectLst/>
                        </a:rPr>
                      </a:br>
                      <a:endParaRPr lang="en-PK" sz="1100" kern="100"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K" sz="800" kern="100">
                          <a:effectLst/>
                        </a:rPr>
                        <a:t>(Data preprocessing, training U-Net/CNN models in Python)</a:t>
                      </a:r>
                      <a:endParaRPr lang="en-PK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endParaRPr lang="en-PK" sz="1100" kern="1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K" sz="800" kern="100">
                          <a:effectLst/>
                        </a:rPr>
                        <a:t>██</a:t>
                      </a:r>
                      <a:endParaRPr lang="en-PK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endParaRPr lang="en-PK" sz="1100" kern="1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299198474"/>
                  </a:ext>
                </a:extLst>
              </a:tr>
              <a:tr h="106690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K" sz="800" kern="100">
                          <a:effectLst/>
                        </a:rPr>
                        <a:t>3. Flutter Design (Frontend)</a:t>
                      </a:r>
                      <a:endParaRPr lang="en-PK" sz="1100" kern="100"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br>
                        <a:rPr lang="en-PK" sz="800" kern="100">
                          <a:effectLst/>
                        </a:rPr>
                      </a:br>
                      <a:endParaRPr lang="en-PK" sz="1100" kern="100"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K" sz="800" kern="100">
                          <a:effectLst/>
                        </a:rPr>
                        <a:t>(Designing App screens, UI/UX, and Slice Viewer layout)</a:t>
                      </a:r>
                      <a:endParaRPr lang="en-PK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endParaRPr lang="en-PK" sz="1100" kern="1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endParaRPr lang="en-PK" sz="1100" kern="1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K" sz="800" kern="100" dirty="0">
                          <a:effectLst/>
                        </a:rPr>
                        <a:t>██</a:t>
                      </a:r>
                      <a:endParaRPr lang="en-PK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42360261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67444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Gantt Chart [8</a:t>
            </a:r>
            <a:r>
              <a:rPr lang="en-US" baseline="30000" dirty="0"/>
              <a:t>th</a:t>
            </a:r>
            <a:r>
              <a:rPr lang="en-US" dirty="0"/>
              <a:t> Semester]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2</a:t>
            </a:r>
            <a:r>
              <a:rPr lang="en-US" baseline="30000" dirty="0">
                <a:solidFill>
                  <a:srgbClr val="0000FF"/>
                </a:solidFill>
              </a:rPr>
              <a:t>nd</a:t>
            </a:r>
            <a:r>
              <a:rPr lang="en-US" dirty="0">
                <a:solidFill>
                  <a:srgbClr val="0000FF"/>
                </a:solidFill>
              </a:rPr>
              <a:t> Gantt Chart Figure from your proposal</a:t>
            </a:r>
          </a:p>
          <a:p>
            <a:endParaRPr lang="en-US" dirty="0">
              <a:solidFill>
                <a:srgbClr val="0000FF"/>
              </a:solidFill>
            </a:endParaRPr>
          </a:p>
          <a:p>
            <a:endParaRPr lang="en-US" dirty="0">
              <a:solidFill>
                <a:srgbClr val="0000FF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9556" y="250985"/>
            <a:ext cx="1985264" cy="560545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788F9B2-6787-AD4E-68BA-04D6CF1E45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5729601"/>
              </p:ext>
            </p:extLst>
          </p:nvPr>
        </p:nvGraphicFramePr>
        <p:xfrm>
          <a:off x="944380" y="2293495"/>
          <a:ext cx="10409419" cy="388346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6315964">
                  <a:extLst>
                    <a:ext uri="{9D8B030D-6E8A-4147-A177-3AD203B41FA5}">
                      <a16:colId xmlns:a16="http://schemas.microsoft.com/office/drawing/2014/main" val="1138768897"/>
                    </a:ext>
                  </a:extLst>
                </a:gridCol>
                <a:gridCol w="1515735">
                  <a:extLst>
                    <a:ext uri="{9D8B030D-6E8A-4147-A177-3AD203B41FA5}">
                      <a16:colId xmlns:a16="http://schemas.microsoft.com/office/drawing/2014/main" val="131435064"/>
                    </a:ext>
                  </a:extLst>
                </a:gridCol>
                <a:gridCol w="1170253">
                  <a:extLst>
                    <a:ext uri="{9D8B030D-6E8A-4147-A177-3AD203B41FA5}">
                      <a16:colId xmlns:a16="http://schemas.microsoft.com/office/drawing/2014/main" val="538647133"/>
                    </a:ext>
                  </a:extLst>
                </a:gridCol>
                <a:gridCol w="1407467">
                  <a:extLst>
                    <a:ext uri="{9D8B030D-6E8A-4147-A177-3AD203B41FA5}">
                      <a16:colId xmlns:a16="http://schemas.microsoft.com/office/drawing/2014/main" val="225317530"/>
                    </a:ext>
                  </a:extLst>
                </a:gridCol>
              </a:tblGrid>
              <a:tr h="49939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K" sz="800" kern="100">
                          <a:effectLst/>
                        </a:rPr>
                        <a:t>Task / Activity</a:t>
                      </a:r>
                      <a:endParaRPr lang="en-PK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K" sz="800" kern="100">
                          <a:effectLst/>
                        </a:rPr>
                        <a:t>Month 7-8</a:t>
                      </a:r>
                      <a:endParaRPr lang="en-PK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K" sz="800" kern="100">
                          <a:effectLst/>
                        </a:rPr>
                        <a:t>Month 9-10</a:t>
                      </a:r>
                      <a:endParaRPr lang="en-PK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K" sz="800" kern="100">
                          <a:effectLst/>
                        </a:rPr>
                        <a:t>Month 11-12</a:t>
                      </a:r>
                      <a:endParaRPr lang="en-PK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3157224383"/>
                  </a:ext>
                </a:extLst>
              </a:tr>
              <a:tr h="1128025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K" sz="800" kern="100">
                          <a:effectLst/>
                        </a:rPr>
                        <a:t>4. System Integration</a:t>
                      </a:r>
                      <a:endParaRPr lang="en-PK" sz="1100" kern="100">
                        <a:effectLst/>
                      </a:endParaRP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br>
                        <a:rPr lang="en-PK" sz="800" kern="100">
                          <a:effectLst/>
                        </a:rPr>
                      </a:br>
                      <a:endParaRPr lang="en-PK" sz="1100" kern="100">
                        <a:effectLst/>
                      </a:endParaRP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K" sz="800" kern="100">
                          <a:effectLst/>
                        </a:rPr>
                        <a:t>(Connecting Flutter App with Python Backend via API)</a:t>
                      </a:r>
                      <a:endParaRPr lang="en-PK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K" sz="800" kern="100">
                          <a:effectLst/>
                        </a:rPr>
                        <a:t>██</a:t>
                      </a:r>
                      <a:endParaRPr lang="en-PK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buNone/>
                      </a:pPr>
                      <a:endParaRPr lang="en-PK" sz="1100" kern="1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buNone/>
                      </a:pPr>
                      <a:endParaRPr lang="en-PK" sz="1100" kern="1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3766121537"/>
                  </a:ext>
                </a:extLst>
              </a:tr>
              <a:tr h="1128025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K" sz="800" kern="100">
                          <a:effectLst/>
                        </a:rPr>
                        <a:t>5. Testing &amp; Forecasting Module</a:t>
                      </a:r>
                      <a:endParaRPr lang="en-PK" sz="1100" kern="100">
                        <a:effectLst/>
                      </a:endParaRP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br>
                        <a:rPr lang="en-PK" sz="800" kern="100">
                          <a:effectLst/>
                        </a:rPr>
                      </a:br>
                      <a:endParaRPr lang="en-PK" sz="1100" kern="100">
                        <a:effectLst/>
                      </a:endParaRP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K" sz="800" kern="100">
                          <a:effectLst/>
                        </a:rPr>
                        <a:t>(Validating accuracy and adding the "Growth Prediction" feature)</a:t>
                      </a:r>
                      <a:endParaRPr lang="en-PK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buNone/>
                      </a:pPr>
                      <a:endParaRPr lang="en-PK" sz="1100" kern="1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K" sz="800" kern="100">
                          <a:effectLst/>
                        </a:rPr>
                        <a:t>██</a:t>
                      </a:r>
                      <a:endParaRPr lang="en-PK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buNone/>
                      </a:pPr>
                      <a:endParaRPr lang="en-PK" sz="1100" kern="1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918646879"/>
                  </a:ext>
                </a:extLst>
              </a:tr>
              <a:tr h="1128025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K" sz="800" kern="100">
                          <a:effectLst/>
                        </a:rPr>
                        <a:t>6. Final Report &amp; Documentation</a:t>
                      </a:r>
                      <a:endParaRPr lang="en-PK" sz="1100" kern="100">
                        <a:effectLst/>
                      </a:endParaRP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br>
                        <a:rPr lang="en-PK" sz="800" kern="100">
                          <a:effectLst/>
                        </a:rPr>
                      </a:br>
                      <a:endParaRPr lang="en-PK" sz="1100" kern="100">
                        <a:effectLst/>
                      </a:endParaRP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K" sz="800" kern="100">
                          <a:effectLst/>
                        </a:rPr>
                        <a:t>(Writing thesis, creating user manuals, and preparing for defence)</a:t>
                      </a:r>
                      <a:endParaRPr lang="en-PK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buNone/>
                      </a:pPr>
                      <a:endParaRPr lang="en-PK" sz="1100" kern="1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buNone/>
                      </a:pPr>
                      <a:endParaRPr lang="en-PK" sz="1100" kern="1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PK" sz="800" kern="100" dirty="0">
                          <a:effectLst/>
                        </a:rPr>
                        <a:t>██</a:t>
                      </a:r>
                      <a:endParaRPr lang="en-PK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9352244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52375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98600" y="3162459"/>
            <a:ext cx="9144000" cy="1579404"/>
          </a:xfrm>
          <a:solidFill>
            <a:schemeClr val="bg2"/>
          </a:solidFill>
        </p:spPr>
        <p:txBody>
          <a:bodyPr>
            <a:noAutofit/>
          </a:bodyPr>
          <a:lstStyle/>
          <a:p>
            <a:r>
              <a:rPr lang="en-US" sz="3900" b="1" dirty="0"/>
              <a:t>Robust Lung Cancer Prediction: Handling Incomplete and Noisy Clinical Data Using Deep Learning</a:t>
            </a:r>
            <a:endParaRPr lang="en-US" sz="3900" dirty="0">
              <a:solidFill>
                <a:srgbClr val="0000FF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98600" y="4833938"/>
            <a:ext cx="9144000" cy="455612"/>
          </a:xfrm>
          <a:solidFill>
            <a:schemeClr val="bg2"/>
          </a:solidFill>
        </p:spPr>
        <p:txBody>
          <a:bodyPr/>
          <a:lstStyle/>
          <a:p>
            <a:r>
              <a:rPr lang="en-US" dirty="0"/>
              <a:t>FYP Proposal Defense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5151620"/>
              </p:ext>
            </p:extLst>
          </p:nvPr>
        </p:nvGraphicFramePr>
        <p:xfrm>
          <a:off x="609600" y="5381625"/>
          <a:ext cx="10922000" cy="741680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546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6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00FF"/>
                          </a:solidFill>
                        </a:rPr>
                        <a:t>03-134231-005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00FF"/>
                          </a:solidFill>
                        </a:rPr>
                        <a:t>Abdullah Asim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>
                          <a:solidFill>
                            <a:srgbClr val="0000FF"/>
                          </a:solidFill>
                        </a:rPr>
                        <a:t>03-134222-035.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dirty="0">
                          <a:solidFill>
                            <a:srgbClr val="0000FF"/>
                          </a:solidFill>
                        </a:rPr>
                        <a:t>Hussnain Khalid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337" y="297180"/>
            <a:ext cx="4048125" cy="1143000"/>
          </a:xfrm>
          <a:prstGeom prst="rect">
            <a:avLst/>
          </a:prstGeom>
        </p:spPr>
      </p:pic>
      <p:sp>
        <p:nvSpPr>
          <p:cNvPr id="9" name="Title 1"/>
          <p:cNvSpPr txBox="1">
            <a:spLocks/>
          </p:cNvSpPr>
          <p:nvPr/>
        </p:nvSpPr>
        <p:spPr>
          <a:xfrm>
            <a:off x="4254500" y="571500"/>
            <a:ext cx="6388100" cy="103838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dirty="0"/>
              <a:t>Thanks</a:t>
            </a: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4254500" y="1622583"/>
            <a:ext cx="6388100" cy="141287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Please feel free to:</a:t>
            </a:r>
          </a:p>
          <a:p>
            <a:pPr lvl="1" algn="l"/>
            <a:r>
              <a:rPr lang="en-US" dirty="0"/>
              <a:t>Ask any further details</a:t>
            </a:r>
          </a:p>
          <a:p>
            <a:pPr lvl="1" algn="l"/>
            <a:r>
              <a:rPr lang="en-US" dirty="0"/>
              <a:t>Advise any improvements</a:t>
            </a:r>
          </a:p>
          <a:p>
            <a:pPr algn="l"/>
            <a:endParaRPr lang="en-US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46165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262</TotalTime>
  <Words>951</Words>
  <Application>Microsoft Office PowerPoint</Application>
  <PresentationFormat>Widescreen</PresentationFormat>
  <Paragraphs>152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Robust Lung Cancer Prediction: Handling Incomplete and Noisy Clinical Data Using Deep Learning</vt:lpstr>
      <vt:lpstr>CLO Mapping </vt:lpstr>
      <vt:lpstr>Abstract</vt:lpstr>
      <vt:lpstr>Objectives</vt:lpstr>
      <vt:lpstr>Deliverable and Beneficiaries</vt:lpstr>
      <vt:lpstr>Scope</vt:lpstr>
      <vt:lpstr>Methodology</vt:lpstr>
      <vt:lpstr>Methodology [2/2]</vt:lpstr>
      <vt:lpstr>Methodology [3/4]</vt:lpstr>
      <vt:lpstr>Methodology [4/4]</vt:lpstr>
      <vt:lpstr>Flow Chart</vt:lpstr>
      <vt:lpstr>Resources and Risks</vt:lpstr>
      <vt:lpstr>Gantt Chart [7th Semester]</vt:lpstr>
      <vt:lpstr>Gantt Chart [8th Semester]</vt:lpstr>
      <vt:lpstr>Robust Lung Cancer Prediction: Handling Incomplete and Noisy Clinical Data Using Deep Learning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Aasim Ali</dc:creator>
  <cp:lastModifiedBy>03-134231-005</cp:lastModifiedBy>
  <cp:revision>15</cp:revision>
  <dcterms:created xsi:type="dcterms:W3CDTF">2018-02-28T13:56:36Z</dcterms:created>
  <dcterms:modified xsi:type="dcterms:W3CDTF">2026-02-15T15:17:02Z</dcterms:modified>
</cp:coreProperties>
</file>